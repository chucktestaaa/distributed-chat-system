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1658600" cy="6562725"/>
  <p:notesSz cx="6858000" cy="9144000"/>
  <p:embeddedFontLst>
    <p:embeddedFont>
      <p:font typeface="Clash Display" panose="020B0604020202020204" charset="0"/>
      <p:regular r:id="rId11"/>
    </p:embeddedFont>
    <p:embeddedFont>
      <p:font typeface="Space Grotesk" panose="020B0604020202020204" charset="0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6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457200"/>
            <a:ext cx="10744200" cy="5648325"/>
          </a:xfrm>
          <a:prstGeom prst="rect">
            <a:avLst/>
          </a:prstGeom>
          <a:solidFill>
            <a:srgbClr val="140A27"/>
          </a:solidFill>
          <a:ln w="9525">
            <a:solidFill>
              <a:srgbClr val="9659FF">
                <a:alpha val="56078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33650"/>
            <a:ext cx="9829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ts val="2700"/>
              </a:lnSpc>
            </a:pPr>
            <a:r>
              <a:rPr sz="2400" dirty="0">
                <a:solidFill>
                  <a:srgbClr val="FFFFFF"/>
                </a:solidFill>
                <a:latin typeface="Clash Display"/>
              </a:rPr>
              <a:t>Distributed Chat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28950"/>
            <a:ext cx="98298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>
                <a:solidFill>
                  <a:srgbClr val="FFFFFF"/>
                </a:solidFill>
                <a:latin typeface="Space Grotesk"/>
              </a:rPr>
              <a:t>Web Services and Cloud Computing — Final Project
Team Members: Roniel Abanil, Kanji Earl Guillergan, Alexander Obeja, Joemer Cartagena, Justine Alimpipinig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71900"/>
            <a:ext cx="9829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>
                <a:solidFill>
                  <a:srgbClr val="FFFFFF"/>
                </a:solidFill>
                <a:latin typeface="Space Grotesk"/>
              </a:rPr>
              <a:t>March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" r="36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0744200" cy="563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3152775" cy="563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8390" y="458390"/>
            <a:ext cx="3162300" cy="610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8390" y="458390"/>
            <a:ext cx="1649759" cy="153144"/>
          </a:xfrm>
          <a:prstGeom prst="roundRect">
            <a:avLst>
              <a:gd name="adj" fmla="val 4975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390" y="687734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FFFFFF"/>
                </a:solidFill>
                <a:latin typeface="Clash Display"/>
              </a:rPr>
              <a:t>Five core components enable real-time collaboration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38575" y="457200"/>
            <a:ext cx="7362825" cy="563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39765" y="458390"/>
            <a:ext cx="7362825" cy="99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11265" y="458390"/>
            <a:ext cx="1112639" cy="153144"/>
          </a:xfrm>
          <a:prstGeom prst="roundRect">
            <a:avLst>
              <a:gd name="adj" fmla="val 4975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LOAD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265" y="706784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FFFFFF"/>
                </a:solidFill>
                <a:latin typeface="Clash Display"/>
              </a:rPr>
              <a:t>Nginx + Sticky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265" y="992534"/>
            <a:ext cx="6791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Distributes incoming traffic across two independent Node.js servers using ip_hash sticky sessions to maintain WebSocket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9765" y="458390"/>
            <a:ext cx="457200" cy="457200"/>
          </a:xfrm>
          <a:prstGeom prst="rect">
            <a:avLst/>
          </a:prstGeom>
          <a:solidFill>
            <a:srgbClr val="170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65" y="458390"/>
            <a:ext cx="457200" cy="457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839765" y="1678334"/>
            <a:ext cx="7362825" cy="99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11265" y="1678334"/>
            <a:ext cx="1592609" cy="153144"/>
          </a:xfrm>
          <a:prstGeom prst="roundRect">
            <a:avLst>
              <a:gd name="adj" fmla="val 4975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STATE SYNCHRONIZATION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265" y="1926728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FFFFFF"/>
                </a:solidFill>
                <a:latin typeface="Clash Display"/>
              </a:rPr>
              <a:t>Redis Pub/Sub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265" y="2212478"/>
            <a:ext cx="6791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Operates at the data layer, instantly propagating messages across server instances in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39765" y="1678334"/>
            <a:ext cx="457200" cy="457200"/>
          </a:xfrm>
          <a:prstGeom prst="rect">
            <a:avLst/>
          </a:prstGeom>
          <a:solidFill>
            <a:srgbClr val="170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765" y="1678334"/>
            <a:ext cx="457200" cy="4572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839765" y="2898278"/>
            <a:ext cx="7362825" cy="99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11265" y="2898278"/>
            <a:ext cx="1211609" cy="153144"/>
          </a:xfrm>
          <a:prstGeom prst="roundRect">
            <a:avLst>
              <a:gd name="adj" fmla="val 4975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DATA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265" y="3146673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FFFFFF"/>
                </a:solidFill>
                <a:latin typeface="Clash Display"/>
              </a:rPr>
              <a:t>PostgreSQL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265" y="3432423"/>
            <a:ext cx="6791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Unified database securely stores all registered users, dynamic rooms, and chronological message histories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9765" y="2898278"/>
            <a:ext cx="457200" cy="457200"/>
          </a:xfrm>
          <a:prstGeom prst="rect">
            <a:avLst/>
          </a:prstGeom>
          <a:solidFill>
            <a:srgbClr val="170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765" y="2898278"/>
            <a:ext cx="457200" cy="4572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839765" y="4118223"/>
            <a:ext cx="7362825" cy="99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11265" y="4118223"/>
            <a:ext cx="1190625" cy="153144"/>
          </a:xfrm>
          <a:prstGeom prst="roundRect">
            <a:avLst>
              <a:gd name="adj" fmla="val 4975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MEDIA STREAMING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1265" y="4366617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FFFFFF"/>
                </a:solidFill>
                <a:latin typeface="Clash Display"/>
              </a:rPr>
              <a:t>WebRTC P2P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1265" y="4652367"/>
            <a:ext cx="6791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Negotiates peer-to-peer pathways, allowing video and audio to flow directly between browsers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39765" y="4118223"/>
            <a:ext cx="457200" cy="457200"/>
          </a:xfrm>
          <a:prstGeom prst="rect">
            <a:avLst/>
          </a:prstGeom>
          <a:solidFill>
            <a:srgbClr val="170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765" y="4118223"/>
            <a:ext cx="457200" cy="4572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839765" y="5338167"/>
            <a:ext cx="7362825" cy="762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411265" y="5338167"/>
            <a:ext cx="1825079" cy="153144"/>
          </a:xfrm>
          <a:prstGeom prst="roundRect">
            <a:avLst>
              <a:gd name="adj" fmla="val 4975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SHARED-NOTHING PARADIGM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1265" y="5586561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>
                <a:solidFill>
                  <a:srgbClr val="FFFFFF"/>
                </a:solidFill>
                <a:latin typeface="Clash Display"/>
              </a:rPr>
              <a:t>Stateless Servers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1265" y="5872311"/>
            <a:ext cx="67913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Application servers are completely stateless, guaranteeing horizontal scalability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39765" y="5338167"/>
            <a:ext cx="457200" cy="457200"/>
          </a:xfrm>
          <a:prstGeom prst="rect">
            <a:avLst/>
          </a:prstGeom>
          <a:solidFill>
            <a:srgbClr val="170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765" y="5338167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424" r="424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6267C9-B5D8-1128-D6DA-9D477FCBFE65}"/>
              </a:ext>
            </a:extLst>
          </p:cNvPr>
          <p:cNvSpPr/>
          <p:nvPr/>
        </p:nvSpPr>
        <p:spPr>
          <a:xfrm>
            <a:off x="411480" y="1133856"/>
            <a:ext cx="10817352" cy="5129784"/>
          </a:xfrm>
          <a:prstGeom prst="rect">
            <a:avLst/>
          </a:prstGeom>
          <a:gradFill>
            <a:gsLst>
              <a:gs pos="100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2350A8-BD95-2F18-D6B6-9C04D0226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82914"/>
            <a:ext cx="10817352" cy="23209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744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400">
                <a:solidFill>
                  <a:srgbClr val="FFFFFF"/>
                </a:solidFill>
                <a:latin typeface="Clash Display"/>
              </a:rPr>
              <a:t>No-Framework 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390" y="991790"/>
            <a:ext cx="5334000" cy="700980"/>
          </a:xfrm>
          <a:prstGeom prst="rect">
            <a:avLst/>
          </a:prstGeom>
          <a:solidFill>
            <a:srgbClr val="09001A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>
                <a:solidFill>
                  <a:srgbClr val="FFFFFF"/>
                </a:solidFill>
                <a:latin typeface="Clash Display"/>
              </a:rPr>
              <a:t>Standard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8590" y="991790"/>
            <a:ext cx="5334000" cy="700980"/>
          </a:xfrm>
          <a:prstGeom prst="roundRect">
            <a:avLst>
              <a:gd name="adj" fmla="val 0"/>
            </a:avLst>
          </a:prstGeom>
          <a:solidFill>
            <a:srgbClr val="140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l">
              <a:lnSpc>
                <a:spcPts val="1620"/>
              </a:lnSpc>
            </a:pPr>
            <a:r>
              <a:rPr sz="1350">
                <a:solidFill>
                  <a:srgbClr val="FFFFFF"/>
                </a:solidFill>
                <a:latin typeface="Clash Display"/>
              </a:rPr>
              <a:t>Custom Built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6990" y="1692771"/>
            <a:ext cx="48768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390" y="1692771"/>
            <a:ext cx="5334000" cy="914400"/>
          </a:xfrm>
          <a:prstGeom prst="rect">
            <a:avLst/>
          </a:prstGeom>
          <a:solidFill>
            <a:srgbClr val="09001A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Express.js HTTP routing &amp; middleware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7190" y="1692771"/>
            <a:ext cx="48768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8590" y="1692771"/>
            <a:ext cx="5334000" cy="914400"/>
          </a:xfrm>
          <a:prstGeom prst="rect">
            <a:avLst/>
          </a:prstGeom>
          <a:solidFill>
            <a:srgbClr val="140A2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Custom 128-line HTTP Router with path parameters &amp; middleware pipelines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6990" y="2607171"/>
            <a:ext cx="48768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390" y="2607171"/>
            <a:ext cx="5334000" cy="914400"/>
          </a:xfrm>
          <a:prstGeom prst="rect">
            <a:avLst/>
          </a:prstGeom>
          <a:solidFill>
            <a:srgbClr val="09001A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Socket.io WebSocket rooms &amp; broadcasting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7190" y="2607171"/>
            <a:ext cx="48768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68590" y="2607171"/>
            <a:ext cx="5334000" cy="914400"/>
          </a:xfrm>
          <a:prstGeom prst="rect">
            <a:avLst/>
          </a:prstGeom>
          <a:solidFill>
            <a:srgbClr val="140A2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Raw ws integration with custom room presence &amp; localized broadcasting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990" y="3521571"/>
            <a:ext cx="4876800" cy="68773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390" y="3521571"/>
            <a:ext cx="5334000" cy="687734"/>
          </a:xfrm>
          <a:prstGeom prst="rect">
            <a:avLst/>
          </a:prstGeom>
          <a:solidFill>
            <a:srgbClr val="09001A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dirty="0">
                <a:solidFill>
                  <a:srgbClr val="FFFFFF"/>
                </a:solidFill>
                <a:latin typeface="Space Grotesk"/>
              </a:rPr>
              <a:t>Prisma ORM dynamic SQL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7190" y="3521571"/>
            <a:ext cx="4876800" cy="68773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68590" y="3521571"/>
            <a:ext cx="5334000" cy="687734"/>
          </a:xfrm>
          <a:prstGeom prst="rect">
            <a:avLst/>
          </a:prstGeom>
          <a:solidFill>
            <a:srgbClr val="140A2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Raw parameterized SQL queries with bespoke migration runner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990" y="4209305"/>
            <a:ext cx="4876800" cy="68773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8390" y="4209305"/>
            <a:ext cx="5334000" cy="687734"/>
          </a:xfrm>
          <a:prstGeom prst="roundRect">
            <a:avLst>
              <a:gd name="adj" fmla="val 0"/>
            </a:avLst>
          </a:prstGeom>
          <a:solidFill>
            <a:srgbClr val="09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Simple-Peer WebRTC wrapper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7190" y="4209305"/>
            <a:ext cx="4876800" cy="68773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68590" y="4209305"/>
            <a:ext cx="5334000" cy="687734"/>
          </a:xfrm>
          <a:prstGeom prst="roundRect">
            <a:avLst>
              <a:gd name="adj" fmla="val 0"/>
            </a:avLst>
          </a:prstGeom>
          <a:solidFill>
            <a:srgbClr val="140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Native RTCPeerConnection with manual STUN/TURN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86350"/>
            <a:ext cx="107442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>
                <a:solidFill>
                  <a:srgbClr val="FFFFFF"/>
                </a:solidFill>
                <a:latin typeface="Space Grotesk"/>
              </a:rPr>
              <a:t>Streamlined to </a:t>
            </a:r>
            <a:r>
              <a:rPr sz="1350" b="1">
                <a:solidFill>
                  <a:srgbClr val="FFFFFF"/>
                </a:solidFill>
                <a:latin typeface="Space Grotesk"/>
              </a:rPr>
              <a:t>6 runtime dependencies</a:t>
            </a:r>
            <a:r>
              <a:rPr sz="1350">
                <a:solidFill>
                  <a:srgbClr val="FFFFFF"/>
                </a:solidFill>
                <a:latin typeface="Space Grotesk"/>
              </a:rPr>
              <a:t>: bcrypt, jsonwebtoken, pg, redis, uuid, 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68590" y="991790"/>
            <a:ext cx="5334000" cy="0"/>
          </a:xfrm>
          <a:prstGeom prst="line">
            <a:avLst/>
          </a:prstGeom>
          <a:ln w="50800">
            <a:solidFill>
              <a:srgbClr val="965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6990" y="1692771"/>
            <a:ext cx="4876800" cy="0"/>
          </a:xfrm>
          <a:prstGeom prst="line">
            <a:avLst/>
          </a:prstGeom>
          <a:ln w="12700">
            <a:solidFill>
              <a:srgbClr val="3A3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7190" y="1692771"/>
            <a:ext cx="4876800" cy="0"/>
          </a:xfrm>
          <a:prstGeom prst="line">
            <a:avLst/>
          </a:prstGeom>
          <a:ln w="12700">
            <a:solidFill>
              <a:srgbClr val="965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6990" y="2607171"/>
            <a:ext cx="4876800" cy="0"/>
          </a:xfrm>
          <a:prstGeom prst="line">
            <a:avLst/>
          </a:prstGeom>
          <a:ln w="12700">
            <a:solidFill>
              <a:srgbClr val="3A3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7190" y="2607171"/>
            <a:ext cx="4876800" cy="0"/>
          </a:xfrm>
          <a:prstGeom prst="line">
            <a:avLst/>
          </a:prstGeom>
          <a:ln w="12700">
            <a:solidFill>
              <a:srgbClr val="433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6990" y="3521571"/>
            <a:ext cx="4876800" cy="0"/>
          </a:xfrm>
          <a:prstGeom prst="line">
            <a:avLst/>
          </a:prstGeom>
          <a:ln w="12700">
            <a:solidFill>
              <a:srgbClr val="3A3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7190" y="3521571"/>
            <a:ext cx="4876800" cy="0"/>
          </a:xfrm>
          <a:prstGeom prst="line">
            <a:avLst/>
          </a:prstGeom>
          <a:ln w="12700">
            <a:solidFill>
              <a:srgbClr val="433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6990" y="4209305"/>
            <a:ext cx="4876800" cy="0"/>
          </a:xfrm>
          <a:prstGeom prst="line">
            <a:avLst/>
          </a:prstGeom>
          <a:ln w="12700">
            <a:solidFill>
              <a:srgbClr val="3A3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7190" y="4209305"/>
            <a:ext cx="4876800" cy="0"/>
          </a:xfrm>
          <a:prstGeom prst="line">
            <a:avLst/>
          </a:prstGeom>
          <a:ln w="12700">
            <a:solidFill>
              <a:srgbClr val="433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" r="36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" r="36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762125"/>
            <a:ext cx="1074420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62125"/>
            <a:ext cx="771525" cy="304800"/>
          </a:xfrm>
          <a:prstGeom prst="roundRect">
            <a:avLst>
              <a:gd name="adj" fmla="val 25000"/>
            </a:avLst>
          </a:prstGeom>
          <a:solidFill>
            <a:srgbClr val="17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ctr">
              <a:lnSpc>
                <a:spcPts val="1206"/>
              </a:lnSpc>
            </a:pPr>
            <a:r>
              <a:rPr sz="900">
                <a:solidFill>
                  <a:srgbClr val="A673FF"/>
                </a:solidFill>
                <a:latin typeface="Space Grotesk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3600"/>
            <a:ext cx="10744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sz="2400">
                <a:solidFill>
                  <a:srgbClr val="FFFFFF"/>
                </a:solidFill>
                <a:latin typeface="Clash Display"/>
              </a:rPr>
              <a:t>Deployment &amp; Security Standards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8390" y="2668190"/>
            <a:ext cx="3530500" cy="2133600"/>
          </a:xfrm>
          <a:prstGeom prst="rect">
            <a:avLst/>
          </a:prstGeom>
          <a:solidFill>
            <a:srgbClr val="140A27"/>
          </a:solidFill>
          <a:ln w="9525">
            <a:solidFill>
              <a:srgbClr val="9659FF">
                <a:alpha val="5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715" y="2982515"/>
            <a:ext cx="2901850" cy="20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>
                <a:solidFill>
                  <a:srgbClr val="FFFFFF"/>
                </a:solidFill>
                <a:latin typeface="Clash Display"/>
              </a:rPr>
              <a:t>Container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715" y="3340596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dirty="0">
                <a:solidFill>
                  <a:srgbClr val="FFFFFF"/>
                </a:solidFill>
                <a:latin typeface="Space Grotesk"/>
              </a:rPr>
              <a:t>A single  command initializes all 5 services. Configured health checks enforce strict initialization ordering to prevent race conditions.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5091" y="2668190"/>
            <a:ext cx="3530500" cy="2133600"/>
          </a:xfrm>
          <a:prstGeom prst="rect">
            <a:avLst/>
          </a:prstGeom>
          <a:solidFill>
            <a:srgbClr val="140A27"/>
          </a:solidFill>
          <a:ln w="9525">
            <a:solidFill>
              <a:srgbClr val="9659FF">
                <a:alpha val="5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9416" y="2982515"/>
            <a:ext cx="2901850" cy="20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>
                <a:solidFill>
                  <a:srgbClr val="FFFFFF"/>
                </a:solidFill>
                <a:latin typeface="Clash Display"/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416" y="3340596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Passwords are secured via bcrypt hashing. JSON Web Tokens (JWT) authenticate both REST APIs and critical WebSocket handshakes.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71792" y="2668190"/>
            <a:ext cx="3530500" cy="2133600"/>
          </a:xfrm>
          <a:prstGeom prst="rect">
            <a:avLst/>
          </a:prstGeom>
          <a:solidFill>
            <a:srgbClr val="140A27"/>
          </a:solidFill>
          <a:ln w="9525">
            <a:solidFill>
              <a:srgbClr val="9659FF">
                <a:alpha val="5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6117" y="2982515"/>
            <a:ext cx="2901850" cy="20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>
                <a:solidFill>
                  <a:srgbClr val="FFFFFF"/>
                </a:solidFill>
                <a:latin typeface="Clash Display"/>
              </a:rPr>
              <a:t>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6117" y="3340596"/>
            <a:ext cx="29018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FFFFFF"/>
                </a:solidFill>
                <a:latin typeface="Space Grotesk"/>
              </a:rPr>
              <a:t>Strict parameterized SQL queries mitigate injection risks. Backend middleware validates room memberships per request, and CORS whitelists block unverified origins.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08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" r="36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295</Words>
  <Application>Microsoft Office PowerPoint</Application>
  <PresentationFormat>Custom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Clash Display</vt:lpstr>
      <vt:lpstr>Space Grotesk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2026-03-25T15:14:24Z</dcterms:modified>
  <cp:category/>
</cp:coreProperties>
</file>